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65" r:id="rId2"/>
    <p:sldId id="651" r:id="rId3"/>
    <p:sldId id="652" r:id="rId4"/>
    <p:sldId id="654" r:id="rId5"/>
    <p:sldId id="655" r:id="rId6"/>
    <p:sldId id="656" r:id="rId7"/>
    <p:sldId id="3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37" autoAdjust="0"/>
  </p:normalViewPr>
  <p:slideViewPr>
    <p:cSldViewPr snapToGrid="0">
      <p:cViewPr varScale="1">
        <p:scale>
          <a:sx n="84" d="100"/>
          <a:sy n="84" d="100"/>
        </p:scale>
        <p:origin x="5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B9A66-C85A-4B38-892C-C7B18853FBA3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FB64F-5F3B-40A9-9C86-595E2A676B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578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9B7D9C-D59B-C111-C0AF-0CC15B427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F5BDF0E-5D83-5369-2BAA-37E873609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3F2C9A5-83F9-C47E-130C-8C21A5EE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939D31E-0C0A-8F26-D563-EB776295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B664C2-4135-5254-3E24-53496E11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674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428839-02A6-795A-8737-E731906D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3054C0-10DC-1E52-2031-39AC7A776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D796CAA-AD98-9A17-16E6-42230A44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F9621C-413F-F003-F73E-D506A2E5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C8D76E-8CFA-72C4-A43D-DA03F4954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27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48F15C-9636-FB4A-465A-F3CA39C7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4C8E6D-0672-A673-0925-313FAE4A9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B2583BE-FCD7-5855-798C-CAAB35CE8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14A7C7-C914-95B6-3B2B-6375D95A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0A2998-330E-E44D-5F12-6ED37254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97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649383-6746-C953-AA16-AAFAC640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1E90CE-7A81-E8B5-D845-E75097936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6748973-E7F1-1532-70FC-95FB507ED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371EB14-F2E1-3DF5-C331-E8F71398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29D1BD4-A07E-EBBC-784E-D61B85BBC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5E885F6-1155-553E-0ED7-11A44433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21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EED5A8-350B-DD84-5448-A0D6548E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17BB976-7464-5F16-EEA1-86B2EFC65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EC53395-BE47-2F89-042C-6960621E5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E716DAA-8484-0244-4F3C-5BB27E06F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FA8E0D5-482B-9559-4BDC-CD4742CB3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5D8B277-7DE9-4528-B5A5-1EBBC6D6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C23790B-F84C-2F6C-3D8A-52B1B825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25A45ED-11A9-3075-8ED3-3D975F80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7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0ABE35-2B83-F0F1-BFFF-9A428F9E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601583E-3EDD-35BC-B07C-2CE2731E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E932A11-8F0E-A3E7-635A-6057A9A3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086D999-01B8-5FC1-0CF7-CDEC8FEB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8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16373E-EB15-90BB-45F4-9EF3AE9E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2BA87A7-AC1F-F313-14CE-C9E25326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5344BA7-86CE-EBCD-143F-DE089937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29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CD99ED-ECC2-8498-DDB6-B2571D13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CFB667-48FE-78F5-2B4E-684CA0407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95D93CD-96B0-36C4-66AF-35C8C0EF3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B93AA3F-ACD7-9F6D-7B36-67261075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E75B8B5-356E-C24C-366A-768D8349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AF0E62D-289A-6BF8-36E5-BFFE70EB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29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9159BC-012D-95FB-55A4-54091E254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04BB9E6-1357-D27C-28D9-3E524428F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EBF0B1-6FC1-FD7A-0DC4-2367B934C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93AA23C-003C-F292-66E0-64BCEB79A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EBD47AC-0C1F-B235-FA1A-C93CA0AB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68DD082-CB0A-AB57-32F8-66792385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04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CA4B4C-0B45-6059-AB92-DB3D6DDD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E69AF38-3FF3-66F8-2F8E-7B150CE0B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5903523-1C0A-1B9F-758B-C275F18E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85B807-0E19-4057-A795-6C3F3897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8A6929-FD6D-FBF2-356D-ABA7A8AA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14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5B012A5-CC98-682B-5D09-3465B5DA2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2D3350B-2B76-9E16-DA9E-371979001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B5B6A0-86CC-463D-17B6-3FA957AE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D17DA-95D2-693D-5124-9DBA30CBD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976127-FE4C-4808-1139-6443B7895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24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C45677C-FEE0-7E10-238E-44E99ACC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1E869-E311-394C-753C-FAAD87DC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DB7C9E-D3DB-3ADD-88FF-4BBA994D9B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DDACE-9AC4-4BB7-B6DE-10C28A2714F4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B1D647-8B58-B2B6-DE71-644C53856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43104B-5905-ABA3-079B-AED6E2EBD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01C8D-01C6-4DB0-8AA9-F16B67324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74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udynamics.co.in/" TargetMode="External"/><Relationship Id="rId2" Type="http://schemas.openxmlformats.org/officeDocument/2006/relationships/hyperlink" Target="mailto:vudynamics@gmai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1288813" y="413811"/>
            <a:ext cx="9829801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4000" b="1" dirty="0">
                <a:solidFill>
                  <a:srgbClr val="297770"/>
                </a:solidFill>
                <a:latin typeface="Sylfaen" panose="010A0502050306030303" pitchFamily="18" charset="0"/>
                <a:ea typeface="Times New Roman" pitchFamily="18" charset="0"/>
                <a:cs typeface="Times New Roman" pitchFamily="18" charset="0"/>
              </a:rPr>
              <a:t>VU-DYNAMICS  PRIVATE LIMITED</a:t>
            </a:r>
            <a:endParaRPr lang="en-US" sz="4000" b="1" dirty="0">
              <a:solidFill>
                <a:srgbClr val="297770"/>
              </a:solidFill>
              <a:latin typeface="Sylfaen" panose="010A0502050306030303" pitchFamily="18" charset="0"/>
              <a:cs typeface="Arial" pitchFamily="34" charset="0"/>
            </a:endParaRPr>
          </a:p>
        </p:txBody>
      </p:sp>
      <p:sp>
        <p:nvSpPr>
          <p:cNvPr id="3078" name="AutoShape 6" descr="data:image/jpeg;base64,/9j/4AAQSkZJRgABAQAAAQABAAD/2wCEAAkGBhQSEBUTExQUFRUVGSIaGBMYGB4cHRohGR8bHh8cGx8eHCYjICAjHyAgIDEhLycqLC0tHyQyNzAqNzIsLSoBCQoKDgwOGg8PGiwkHyQpKiwsNS8sLCwqKiwyNCwtKi41MSwsLy8pLC4qLCwpLDQsLC0uLCoqKi8vLykpLCwvMP/AABEIAGoAaAMBIgACEQEDEQH/xAAbAAACAgMBAAAAAAAAAAAAAAAABQMEAQIGB//EAEAQAAIBAwIEAwQHBQUJAAAAAAECAwQREgAhBRMxQSJRcQYyYYEUI0JicpGhM1JTkrEVQ4Ki0wcWJDRzk7LC0f/EABgBAAMBAQAAAAAAAAAAAAAAAAABAgME/8QALxEAAgECBAQEBQUBAAAAAAAAAAECETEDIUHwElFx0SKRocFCYYGx8RMUMoLhBP/aAAwDAQACEQMRAD8A9s0aNGgYaNU6/iYjsoBeRvdiW2R+JvsFHdjt89tVZKAspercFQLmJSRGoHXLoX+N9vu6RajqyRvaCLIohaVh1WJS1vVh4R6X1sK2dvdp8f8AqSqv/iH1yMv+0UCJlip7KGKJIGCR42bFlGNwTiQBYeK2oOHVNdJeZZCSGUMQhsUICjFWJU922Xa9/hqONaHb+zlFVkkur7HZmWq/hU//AHn/ANHWVr5h79OfWORW/Q4n9Ncx7M0Vd9M5tVkN2Q+7YqF22Xawa1j332GtTxviEczZxh1WQIqhSLq7uL3BUEhUBGx94eenxakv/n8XCnF5czq6fjkTvy8ikn8OQFGPpf3vlfV/XI0PtxBUrjPCyLjdsgHRelwbbggkdtt/I6b8l4k5lOxmjtkIS2Vx1+qcm9yOgJIPmOumnUxxMFwdJKj+fcb6NVOG8USdckuCNmRhZkPkyncH+vbVvVGDTTow0aNGgQapcSrygCoA0r7Ih6bdWbyVepPoOpGrU86ojOxsqglj5Abk6X8JgZsqh1PMlGyHqiDdU+B7t8T8BpFxWrE/tHVmipmaN8qqTxFiAWcLu2xuFVRsNiB6m+q/suaqeYVTuQoGEkThgu255a2sBexuSSCGG4OouG8GnlqZKitQxqrFlYuPCANgpU+6ASDe4O58J6s34lC5RZXWGA/soT4eYBsGf92MnZV2B736ai7qd8mow4IpN6u/0RtwyjgiLCjgzJYkyE2jBJuQGN7i4GygjbUlFWNUOyCqCkC+MUdtr2JVpA2QB2uthfUKyTc2YxuXeFwBTEqEaJgCuOws3WzeYIO2olgWGCBJp0gnjLFMLO+LE+EAg5XBAPhIuAdMxarm3V+b3axNSVHMkCCWrUNmElLR4uYjZgBifidxuAdbU3EnMpjjnEhBIAmisGK+8EkjAG3Q+E6rO8HKiRZapDCSyzCBySWDAk3ix3yPYa3EWSwihkifkKylXbcFwBmwAvceIlSBe53GgbS5en+dCWrp4Jco6mDktLYFjiVexJGL2tkbnqA2+2+qXtDXVkFZG0QX6MFxxtsxPROtw1xsegB32B1Ok8UE80byO6LGokRyXMkkhNrIepKgCwFt/htmh4qYleyycpWwaOTZ4GIBUE7gxEEb7437joMqLcXWlVSztny5MuUtQlWoqKdgsyeE73B78uS3vKb3DDzuPLTPh9cJVvYqynF0PVGHVT/UHuCDrh+F8OqYapJIoGTme/CWX3LjJpGHhLFiWW2/W+1gOt4n9S4qB7o8Mw817P6of8pPw00zPGw4p0i61t27DTRo0ao5BXxocxooO0jZOPuR2Yj0LYr89V/a/gctVTiOCcwuGDZAkBrX2Nt/j8tWabxVkrfw0SMerXdrf5Py1V4B7RtUSyRlFHL6sMgRc7AhkFjbfYnUujyZ0w440nD4c/Mr8SqMI0hldpFiRWqGA3k3ColvOR9yPIWPXWhrRJWJjHIHkXlzQSxkDli5EmW6nEkra++VvLUdLVrIsimFp2qS0rKCq2jDcuPdmHZQRb121MktQKYRMZFknlMcRcrzEjtcsxUkFgoax6+7ffSNaUXz3puyJqSkDZR0oEMINnmX3nI2KRk3sF6Z9ui+Yb0PDIoQeWgW/VurN+JjufmdayTRU0Sg+FFsqgAknsFUDck+Q31DDx+MnEh0bEsEkQoWC7krfrby6jVWOduUrWI6TjRerkhxARR4Hv7zLbmD/Dkn66tV3CYpt3XxDpIPC6/hYbjXG0XEXXlEiwjKSZ92eUjnKT+GZbfhOusm42ocqkcsuJs7RqCFPkSSLkdwL20k6l4mG4NcJTRTHPGKhVkO6wVZUBgTf6t7dGI6EWDeQPWjQ1c0MEoamZ3BdqiR3VEc9yhI8SlbACwAAsTp84iq4CAckcEXGxBHruGU/MEaSNDNUxxjwO0EjJPE7FUdkHhdsQbjo+NreL4DQOMk14vrveZssby00lLFK0TNGHglN8uW1rA97r7h7gFT30z9n+FPDSJDNIZmAIZzve99t9yANt9Lf7TZ3WRgganmEbtGxZCswANiQOjFbjsVGpONcZnjqo4kS8bYlmEZY7lrgHIKLWA8/Ffe2llcpqclwKnP69egx4IxEZiY3aFjHc9wLFT/ACkaNaIcK1h/FiDfOJsSf5XX8tZ1SOad68yFA1q0ooLljiG6MREgAO427ddKvZOAxRz4LigUFRiU8VnLWQyOAAbbi19+vXTmkjBlqkI2ZlPqHjC99vsnSP2Hf9rEzU+RF+XEqhwLlbyFPDfcbDob6nU6l/CX9TMKiWKKGKHKWGGP67mcsx5ICLMPEb99raaU0LiopklbNo6dizeb3iUnp8W/PSflRvBTRmKMzGLHmu2AUQ2RrspyYg/Z9emmUMXJajbmCUANTvL5lgCp6n7SAde+gJWp1996E/tPTnATpIyPCCYwLYlnsoyBBuO3UdTpLxXiv0uQxIpxyjEL2F8iZQ7Dvjgp69t+hGn/ALULemY9lZGPosiEn5AX1zvBPZSWilZkTmIsmVg4yfJXUlQbWKgr4Sd97HRKtSsBw/T4pPNW3u7ObpuGu1QJea/jx+o3soYImQPu3yuNhe4PkddJBxx4AsV1UNHy1uQCJs5FLWPvXbEnuMl266aR0UqhZBEcVnaQQXXMKVNu+Nw5L4376pz+yrTVCVE4jRFYylSbshBQixG24S7H169dSo0sbzx44uWJZL8D32fpkWEOhcia0hLtkbsq9zqhV0WbVsWQQOI3yboCVsctxscBcXGmPs6tqSHt4AQPIHcD5C2lFWI3SseWVYkkkWJZGtb6oAd+t3yFtXocUa8bz190V6riJ5M8A+jssUPMV4NlXFgQpW5Cna430e2bxPUQwysqCQEcwpGSuRsMWc3B2O4BtsfLQ/Es4J4F5LboiyQiyNzmsRjvZgNyLnYjWntPKHr4YxNGLEBo1kIlNze2JDLYjfpc+Y1LsdGGvH5v0WZ0FWLVVOfuyL+in/1/XRoqd6yEfuxyN+saj+p0as4ZWXTuEvgq0PaZCh/FGcl/NWf8hpeDT0tUxMszSSm5UklEDbC9gEVR2ub+V9NeL0jSReD9ohDx/iXcA/A7qfgdJfaKlSqp4qgGwQhycQzKAdwATipVupINsTpM2wqOibyeT9jav5cX0hZIllABqIkZQetg4FxtZtyfJtVqCOnKPT85S9Q2V4ltHG9gVCEDEEYggE3Yj46k4dUvUwR5YrUIOZCxN+YoABv0JVrlGNvJgLW1JXV6OsIMbpEHvLGiEssiWZIyEFxdt8hsbDex0jXNeHe/ca8OrearRTACVBjInZgdsl80YfluDuNRQQzU4wVefEPd8QEijsvi2cDoDcHzv11SLNUT4yxmB0TmRyowzjUnELJta7WJx8SkA33F9WoOIzqtzGlQnaWBlBPqjNb8mOmYuNOXQj/3r+q5v0aow87R9jj/ABL9dump5aaWo8MqiKL7UYbJn+6xGyqe4Fyemw60ClPb/k6nc3w5bWuTl+/iN99WqnicxUkiOkj7yzMpb5KrY/m3yOgbS+FU31LPFq8i0MNufIPD5IO8jfBew7mw0mqqunWNY0kaP6MbpMyFo2YAhgzWsxNzfcG5NjfVhnkhnEVOiuzpzXllY5TYkAqrDYEAg/ugEWHlihrGg5p5LokjDlU7EZGQ3zCWJAQmzXvYeI9NBUY8Ky+6z33J6eoNRJTgphgonkTyZgQi+vvN57Dz1T4fFLLXF5qcRmIkpNuGdTcBfBdDa/c3+A1pxWo5MTwtIVlcCSepVGYJmSqkBWDC2Nh1AC7/ABdtWPDTZy4vIosMAQHY7KAD0LG23bfSG6xWWuSvvz0oYovHUzSdlCxA/huzfqwH+HWdTcKojFCqE3bq7ebMbsfzJ+Ws6s5ZuryLWlEn/DSl/wC4lN38onP2vwv38jv3Nm+sOgYEEAgixB6EHqDoCLoIeLcO5cn0gdVNy5Gb+SwxLayqxO/r8wUuUxMgtBVx2SRQckbbLBre8Lb7eJb/ACNlS1Lscnp+zdWi+B7tGPPcr3uNxSqfZlXVmikLcw3QlhjGJGBkeMqLlj2JJt0uBqToUlTxPo/bf5jq0DykTO1NzQEkjNsZAt7COXa17kEe9bsOusJTOrzQRRvFzpQwmRcUWMKlyrDYMbFbdbm/x1NwCskl5yTBTDGSoEgu9h05lzubC+6jYjc72qQ11H9hqimytiFzXIOGKsqDJbHFu21twNI0pJNx+2a35kzVTi9JzZDKZwA32+UbMTkFtYC65dfnrElE5eGF43l5M2YnkGS8shr5MftC+NuuwPx1amxidUeunDMCVQmO5AuSdouwvquslK/LP11UXuVDZuLLa74tithkNwN77X0Crql6a+hrTQKkwFO7z8oERxbCKHLYhpLXIA6LckDt3FyGWKKUc6ZGqH8Of2Y7i4QD7ANtr7sR17aT1PtLUSkRUsXLBBW7KQQQSjYldhg+JvYghr9AdW6H2bAXmVRixxZpIyoteQhmDvezqGuRt5eWivIcoUVZvuY4HwEyMJZwJAFFnMvMDuDcup7IbA4Ha/YW3bUx+kSiX+6jJ5f326GT8I6L57ny1oFNSMQClN+RlHkB9mP9W+A6tlUAWAsB0A1SRhiYjbzv9jOjRo0zANGjRoANLpOEYktTtyidylrxt6rtY/eUg+umOjQNSasLjxB12mha3QvH9YvzAGY/lPrpZBQ0GSkMl0NwrudrKQq2c3AUE2XYDXSaw0CuLMqsPIgH+ulQ0U6Wy6FGpWGR0cyJ4MrDNbHNcTf5aRwcMoYo1iM3MwviAwysQAV+pALA23BvfXR/2RBcfUxfyL/81OsKoLKoUeQFv6aKDWJwqibFqVrnaCAgE3zkHLXfqcffP8o9dbR8IyIaduaw3C2tGp+6nc/FiT6aY6NFCOPkGjRo0yA0aNGgD//Z"/>
          <p:cNvSpPr>
            <a:spLocks noChangeAspect="1" noChangeArrowheads="1"/>
          </p:cNvSpPr>
          <p:nvPr/>
        </p:nvSpPr>
        <p:spPr bwMode="auto">
          <a:xfrm>
            <a:off x="1679575" y="-14446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0" name="AutoShape 8" descr="http://www.indolink.com/secure/tickets/images/iitkLogo.gif"/>
          <p:cNvSpPr>
            <a:spLocks noChangeAspect="1" noChangeArrowheads="1"/>
          </p:cNvSpPr>
          <p:nvPr/>
        </p:nvSpPr>
        <p:spPr bwMode="auto">
          <a:xfrm>
            <a:off x="1679575" y="-14446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58569891-D285-BDAC-8C23-732DCD1C6618}"/>
              </a:ext>
            </a:extLst>
          </p:cNvPr>
          <p:cNvSpPr txBox="1"/>
          <p:nvPr/>
        </p:nvSpPr>
        <p:spPr>
          <a:xfrm>
            <a:off x="10210800" y="6117078"/>
            <a:ext cx="1876589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100" b="1">
                <a:latin typeface="Calisto M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Contact: </a:t>
            </a:r>
            <a:endParaRPr lang="en-US" sz="1100">
              <a:solidFill>
                <a:srgbClr val="297770"/>
              </a:solidFill>
              <a:latin typeface="Calisto MT"/>
            </a:endParaRPr>
          </a:p>
          <a:p>
            <a:r>
              <a:rPr lang="en-US" sz="1100">
                <a:solidFill>
                  <a:srgbClr val="297770"/>
                </a:solidFill>
                <a:latin typeface="Calisto MT" panose="0204060305050503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www.vudynamics.co.in</a:t>
            </a:r>
            <a:endParaRPr lang="en-US" sz="1100">
              <a:solidFill>
                <a:srgbClr val="297770"/>
              </a:solidFill>
              <a:latin typeface="Calisto MT" panose="02040603050505030304" pitchFamily="18" charset="0"/>
            </a:endParaRPr>
          </a:p>
          <a:p>
            <a:r>
              <a:rPr lang="en-US" sz="1100">
                <a:solidFill>
                  <a:srgbClr val="297770"/>
                </a:solidFill>
                <a:latin typeface="Calisto MT"/>
              </a:rPr>
              <a:t>info@vudynamics.co.in</a:t>
            </a:r>
            <a:endParaRPr lang="en-US" sz="1100">
              <a:solidFill>
                <a:srgbClr val="297770"/>
              </a:solidFill>
              <a:latin typeface="Calisto MT" panose="02040603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E32F00A-C306-6162-2F11-CF2C9C1359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451533"/>
            <a:ext cx="1835339" cy="8491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D01E78F-5814-F230-3C6E-17949CEF9299}"/>
              </a:ext>
            </a:extLst>
          </p:cNvPr>
          <p:cNvSpPr txBox="1"/>
          <p:nvPr/>
        </p:nvSpPr>
        <p:spPr>
          <a:xfrm>
            <a:off x="104611" y="5805973"/>
            <a:ext cx="32239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latin typeface="Calisto MT" panose="02040603050505030304" pitchFamily="18" charset="0"/>
              </a:rPr>
              <a:t>Registered Office:</a:t>
            </a:r>
          </a:p>
          <a:p>
            <a:r>
              <a:rPr lang="en-US" sz="1100">
                <a:latin typeface="Calisto MT" panose="02040603050505030304" pitchFamily="18" charset="0"/>
              </a:rPr>
              <a:t>M/s VU-DYNAMICS Private Limited,</a:t>
            </a:r>
          </a:p>
          <a:p>
            <a:r>
              <a:rPr lang="en-US" sz="1100">
                <a:latin typeface="Calisto MT" panose="02040603050505030304" pitchFamily="18" charset="0"/>
              </a:rPr>
              <a:t>19/498-2A-2A, Ward No 19, </a:t>
            </a:r>
            <a:r>
              <a:rPr lang="en-US" sz="1100" err="1">
                <a:latin typeface="Calisto MT" panose="02040603050505030304" pitchFamily="18" charset="0"/>
              </a:rPr>
              <a:t>Peddapeta</a:t>
            </a:r>
            <a:r>
              <a:rPr lang="en-US" sz="1100">
                <a:latin typeface="Calisto MT" panose="02040603050505030304" pitchFamily="18" charset="0"/>
              </a:rPr>
              <a:t> Revenue, </a:t>
            </a:r>
          </a:p>
          <a:p>
            <a:r>
              <a:rPr lang="en-US" sz="1100">
                <a:latin typeface="Calisto MT" panose="02040603050505030304" pitchFamily="18" charset="0"/>
              </a:rPr>
              <a:t>Gudivada, Krishna, Andhra Pradesh - 521301</a:t>
            </a:r>
            <a:endParaRPr lang="en-IN" sz="1100">
              <a:latin typeface="Calisto MT" panose="020406030505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1FDF0EE-1DA3-BB5B-B10A-93A3B7764181}"/>
              </a:ext>
            </a:extLst>
          </p:cNvPr>
          <p:cNvSpPr txBox="1"/>
          <p:nvPr/>
        </p:nvSpPr>
        <p:spPr>
          <a:xfrm>
            <a:off x="4574846" y="5791200"/>
            <a:ext cx="3066865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100" b="1">
                <a:latin typeface="Calisto MT" panose="02040603050505030304" pitchFamily="18" charset="0"/>
              </a:rPr>
              <a:t>Corporate Office:</a:t>
            </a:r>
          </a:p>
          <a:p>
            <a:r>
              <a:rPr lang="en-US" sz="1100">
                <a:latin typeface="Calisto MT" panose="02040603050505030304" pitchFamily="18" charset="0"/>
              </a:rPr>
              <a:t>M/s VU-DYNAMICS Private Limited,</a:t>
            </a:r>
          </a:p>
          <a:p>
            <a:r>
              <a:rPr lang="en-US" sz="1100">
                <a:latin typeface="Calisto MT"/>
              </a:rPr>
              <a:t>C/o Startup Incubation and Innovation Center, </a:t>
            </a:r>
            <a:endParaRPr lang="en-US" sz="1100">
              <a:latin typeface="Calisto MT" panose="02040603050505030304" pitchFamily="18" charset="0"/>
            </a:endParaRPr>
          </a:p>
          <a:p>
            <a:r>
              <a:rPr lang="en-US" sz="1100">
                <a:latin typeface="Calisto MT" panose="02040603050505030304" pitchFamily="18" charset="0"/>
              </a:rPr>
              <a:t>IIT Kanpur, Kanpur, Uttar Pradesh -208016</a:t>
            </a:r>
            <a:endParaRPr lang="en-IN" sz="110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BDFF8B04-FC83-63A5-0F74-15885BFCB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75" y="2723407"/>
            <a:ext cx="9144000" cy="420860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Calisto MT" panose="02040603050505030304" pitchFamily="18" charset="0"/>
                <a:ea typeface="Cambria" panose="02040503050406030204" pitchFamily="18" charset="0"/>
              </a:rPr>
              <a:t>( An Incubated company at IIT Kanpur under Faculty Entrepreneurship Program)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FC96C71-5603-0024-6AB9-9755A8259D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3380070"/>
            <a:ext cx="3609577" cy="7880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69E919F-EF7B-86E9-D345-5F24B20821DE}"/>
              </a:ext>
            </a:extLst>
          </p:cNvPr>
          <p:cNvSpPr txBox="1"/>
          <p:nvPr/>
        </p:nvSpPr>
        <p:spPr>
          <a:xfrm>
            <a:off x="4123761" y="4536831"/>
            <a:ext cx="3493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Calisto MT" panose="02040603050505030304" pitchFamily="18" charset="0"/>
              </a:rPr>
              <a:t>Manmatha Mandal</a:t>
            </a:r>
            <a:r>
              <a:rPr lang="en-US" sz="2000" dirty="0">
                <a:latin typeface="Calisto MT" panose="02040603050505030304" pitchFamily="18" charset="0"/>
              </a:rPr>
              <a:t/>
            </a:r>
            <a:br>
              <a:rPr lang="en-US" sz="2000" dirty="0">
                <a:latin typeface="Calisto MT" panose="02040603050505030304" pitchFamily="18" charset="0"/>
              </a:rPr>
            </a:br>
            <a:r>
              <a:rPr lang="en-US" sz="2000" dirty="0" smtClean="0">
                <a:latin typeface="Calisto MT" panose="02040603050505030304" pitchFamily="18" charset="0"/>
              </a:rPr>
              <a:t>Software Engineer</a:t>
            </a:r>
            <a:endParaRPr lang="en-IN" sz="20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36148"/>
            <a:ext cx="11487912" cy="1097915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Calisto MT" panose="02040603050505030304" pitchFamily="18" charset="0"/>
              </a:rPr>
              <a:t>1.1. </a:t>
            </a:r>
            <a:r>
              <a:rPr lang="en-IN" sz="2800" b="1" dirty="0">
                <a:latin typeface="Calisto MT" panose="02040603050505030304" pitchFamily="18" charset="0"/>
              </a:rPr>
              <a:t>Weather System Enhancements</a:t>
            </a:r>
            <a:endParaRPr lang="en-US" sz="2800" b="1" dirty="0">
              <a:latin typeface="Calisto MT" panose="0204060305050503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45472" y="976015"/>
            <a:ext cx="6679194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Calisto MT" panose="02040603050505030304" pitchFamily="18" charset="0"/>
              </a:rPr>
              <a:t>Goal</a:t>
            </a:r>
            <a:r>
              <a:rPr lang="en-US" sz="2000" b="1" dirty="0" smtClean="0">
                <a:latin typeface="Calisto MT" panose="02040603050505030304" pitchFamily="18" charset="0"/>
              </a:rPr>
              <a:t>:</a:t>
            </a:r>
          </a:p>
          <a:p>
            <a:r>
              <a:rPr lang="en-US" sz="2000" dirty="0" smtClean="0">
                <a:latin typeface="Calisto MT" panose="02040603050505030304" pitchFamily="18" charset="0"/>
              </a:rPr>
              <a:t>Enhance </a:t>
            </a:r>
            <a:r>
              <a:rPr lang="en-US" sz="2000" dirty="0">
                <a:latin typeface="Calisto MT" panose="02040603050505030304" pitchFamily="18" charset="0"/>
              </a:rPr>
              <a:t>environmental realism through dynamic weather effects.</a:t>
            </a:r>
          </a:p>
          <a:p>
            <a:pPr marL="0" indent="0">
              <a:buNone/>
            </a:pPr>
            <a:r>
              <a:rPr lang="en-US" sz="2000" b="1" dirty="0">
                <a:latin typeface="Calisto MT" panose="02040603050505030304" pitchFamily="18" charset="0"/>
              </a:rPr>
              <a:t>Process</a:t>
            </a:r>
            <a:r>
              <a:rPr lang="en-US" sz="2000" b="1" dirty="0" smtClean="0">
                <a:latin typeface="Calisto MT" panose="02040603050505030304" pitchFamily="18" charset="0"/>
              </a:rPr>
              <a:t>:</a:t>
            </a:r>
          </a:p>
          <a:p>
            <a:r>
              <a:rPr lang="en-US" sz="2000" dirty="0" smtClean="0">
                <a:latin typeface="Calisto MT" panose="02040603050505030304" pitchFamily="18" charset="0"/>
              </a:rPr>
              <a:t>Integrated </a:t>
            </a:r>
            <a:r>
              <a:rPr lang="en-US" sz="2000" dirty="0">
                <a:latin typeface="Calisto MT" panose="02040603050505030304" pitchFamily="18" charset="0"/>
              </a:rPr>
              <a:t>rainfall effects into the modular weather system</a:t>
            </a:r>
            <a:r>
              <a:rPr lang="en-US" sz="2000" dirty="0" smtClean="0">
                <a:latin typeface="Calisto MT" panose="02040603050505030304" pitchFamily="18" charset="0"/>
              </a:rPr>
              <a:t>.</a:t>
            </a:r>
          </a:p>
          <a:p>
            <a:r>
              <a:rPr lang="en-US" sz="2000" dirty="0" smtClean="0">
                <a:latin typeface="Calisto MT" panose="02040603050505030304" pitchFamily="18" charset="0"/>
              </a:rPr>
              <a:t>Debugged </a:t>
            </a:r>
            <a:r>
              <a:rPr lang="en-US" sz="2000" dirty="0">
                <a:latin typeface="Calisto MT" panose="02040603050505030304" pitchFamily="18" charset="0"/>
              </a:rPr>
              <a:t>and corrected texture handling in the post-processing stage.</a:t>
            </a:r>
          </a:p>
          <a:p>
            <a:pPr marL="0" indent="0">
              <a:buNone/>
            </a:pPr>
            <a:r>
              <a:rPr lang="en-US" sz="2000" b="1" dirty="0">
                <a:latin typeface="Calisto MT" panose="02040603050505030304" pitchFamily="18" charset="0"/>
              </a:rPr>
              <a:t>Result</a:t>
            </a:r>
            <a:r>
              <a:rPr lang="en-US" sz="2000" b="1" dirty="0" smtClean="0">
                <a:latin typeface="Calisto MT" panose="02040603050505030304" pitchFamily="18" charset="0"/>
              </a:rPr>
              <a:t>:</a:t>
            </a:r>
          </a:p>
          <a:p>
            <a:r>
              <a:rPr lang="en-US" sz="2000" dirty="0" smtClean="0">
                <a:latin typeface="Calisto MT" panose="02040603050505030304" pitchFamily="18" charset="0"/>
              </a:rPr>
              <a:t>Achieved </a:t>
            </a:r>
            <a:r>
              <a:rPr lang="en-US" sz="2000" dirty="0">
                <a:latin typeface="Calisto MT" panose="02040603050505030304" pitchFamily="18" charset="0"/>
              </a:rPr>
              <a:t>visually consistent rainfall with correct texture rendering.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xmlns="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9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54808"/>
            <a:ext cx="11487912" cy="866876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Calisto MT" panose="02040603050505030304" pitchFamily="18" charset="0"/>
              </a:rPr>
              <a:t>2.1. Window </a:t>
            </a:r>
            <a:r>
              <a:rPr lang="en-IN" sz="2800" b="1" dirty="0">
                <a:latin typeface="Calisto MT" panose="02040603050505030304" pitchFamily="18" charset="0"/>
              </a:rPr>
              <a:t>&amp; </a:t>
            </a:r>
            <a:r>
              <a:rPr lang="en-IN" sz="2800" b="1" dirty="0" smtClean="0">
                <a:latin typeface="Calisto MT" panose="02040603050505030304" pitchFamily="18" charset="0"/>
              </a:rPr>
              <a:t>GUI </a:t>
            </a:r>
            <a:r>
              <a:rPr lang="en-IN" sz="2800" b="1" dirty="0">
                <a:latin typeface="Calisto MT" panose="02040603050505030304" pitchFamily="18" charset="0"/>
              </a:rPr>
              <a:t>Architecture </a:t>
            </a:r>
            <a:r>
              <a:rPr lang="en-IN" sz="2800" b="1" dirty="0" smtClean="0">
                <a:latin typeface="Calisto MT" panose="02040603050505030304" pitchFamily="18" charset="0"/>
              </a:rPr>
              <a:t>Created</a:t>
            </a:r>
            <a:endParaRPr lang="en-US" sz="2800" b="1" dirty="0">
              <a:latin typeface="Calisto MT" panose="0204060305050503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1685" y="1390853"/>
            <a:ext cx="10076507" cy="3390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>
                <a:latin typeface="Calisto MT" panose="02040603050505030304" pitchFamily="18" charset="0"/>
              </a:rPr>
              <a:t>Goal</a:t>
            </a:r>
            <a:r>
              <a:rPr lang="en-IN" sz="2000" b="1" dirty="0" smtClean="0">
                <a:latin typeface="Calisto MT" panose="02040603050505030304" pitchFamily="18" charset="0"/>
              </a:rPr>
              <a:t>:</a:t>
            </a:r>
          </a:p>
          <a:p>
            <a:r>
              <a:rPr lang="en-IN" sz="2000" dirty="0" smtClean="0">
                <a:latin typeface="Calisto MT" panose="02040603050505030304" pitchFamily="18" charset="0"/>
              </a:rPr>
              <a:t>Modernize </a:t>
            </a:r>
            <a:r>
              <a:rPr lang="en-IN" sz="2000" dirty="0">
                <a:latin typeface="Calisto MT" panose="02040603050505030304" pitchFamily="18" charset="0"/>
              </a:rPr>
              <a:t>UI system and improve performance.</a:t>
            </a:r>
          </a:p>
          <a:p>
            <a:pPr marL="0" indent="0">
              <a:buNone/>
            </a:pPr>
            <a:r>
              <a:rPr lang="en-IN" sz="2000" b="1" dirty="0">
                <a:latin typeface="Calisto MT" panose="02040603050505030304" pitchFamily="18" charset="0"/>
              </a:rPr>
              <a:t>Process</a:t>
            </a:r>
            <a:r>
              <a:rPr lang="en-IN" sz="2000" b="1" dirty="0" smtClean="0">
                <a:latin typeface="Calisto MT" panose="02040603050505030304" pitchFamily="18" charset="0"/>
              </a:rPr>
              <a:t>:</a:t>
            </a:r>
          </a:p>
          <a:p>
            <a:r>
              <a:rPr lang="en-IN" sz="2000" dirty="0" smtClean="0">
                <a:latin typeface="Calisto MT" panose="02040603050505030304" pitchFamily="18" charset="0"/>
              </a:rPr>
              <a:t>Replaced </a:t>
            </a:r>
            <a:r>
              <a:rPr lang="en-IN" sz="2000" dirty="0">
                <a:latin typeface="Calisto MT" panose="02040603050505030304" pitchFamily="18" charset="0"/>
              </a:rPr>
              <a:t>legacy </a:t>
            </a:r>
            <a:r>
              <a:rPr lang="en-IN" sz="2000" dirty="0" err="1">
                <a:latin typeface="Calisto MT" panose="02040603050505030304" pitchFamily="18" charset="0"/>
              </a:rPr>
              <a:t>JPanel</a:t>
            </a:r>
            <a:r>
              <a:rPr lang="en-IN" sz="2000" dirty="0">
                <a:latin typeface="Calisto MT" panose="02040603050505030304" pitchFamily="18" charset="0"/>
              </a:rPr>
              <a:t> window UI with </a:t>
            </a:r>
            <a:r>
              <a:rPr lang="en-IN" sz="2000" dirty="0" err="1" smtClean="0">
                <a:latin typeface="Calisto MT" panose="02040603050505030304" pitchFamily="18" charset="0"/>
              </a:rPr>
              <a:t>ImGUI</a:t>
            </a:r>
            <a:r>
              <a:rPr lang="en-IN" sz="2000" dirty="0" smtClean="0">
                <a:latin typeface="Calisto MT" panose="02040603050505030304" pitchFamily="18" charset="0"/>
              </a:rPr>
              <a:t> </a:t>
            </a:r>
            <a:r>
              <a:rPr lang="en-IN" sz="2000" dirty="0">
                <a:latin typeface="Calisto MT" panose="02040603050505030304" pitchFamily="18" charset="0"/>
              </a:rPr>
              <a:t>window panels</a:t>
            </a:r>
            <a:r>
              <a:rPr lang="en-IN" sz="2000" dirty="0" smtClean="0">
                <a:latin typeface="Calisto MT" panose="02040603050505030304" pitchFamily="18" charset="0"/>
              </a:rPr>
              <a:t>.</a:t>
            </a:r>
          </a:p>
          <a:p>
            <a:r>
              <a:rPr lang="en-IN" sz="2000" dirty="0" smtClean="0">
                <a:latin typeface="Calisto MT" panose="02040603050505030304" pitchFamily="18" charset="0"/>
              </a:rPr>
              <a:t>Implemented </a:t>
            </a:r>
            <a:r>
              <a:rPr lang="en-IN" sz="2000" dirty="0">
                <a:latin typeface="Calisto MT" panose="02040603050505030304" pitchFamily="18" charset="0"/>
              </a:rPr>
              <a:t>FPV GUI displaying dynamic drone parameters with proper icons.</a:t>
            </a:r>
          </a:p>
          <a:p>
            <a:pPr marL="0" indent="0">
              <a:buNone/>
            </a:pPr>
            <a:r>
              <a:rPr lang="en-IN" sz="2000" b="1" dirty="0">
                <a:latin typeface="Calisto MT" panose="02040603050505030304" pitchFamily="18" charset="0"/>
              </a:rPr>
              <a:t>Result</a:t>
            </a:r>
            <a:r>
              <a:rPr lang="en-IN" sz="2000" b="1" dirty="0" smtClean="0">
                <a:latin typeface="Calisto MT" panose="02040603050505030304" pitchFamily="18" charset="0"/>
              </a:rPr>
              <a:t>:</a:t>
            </a:r>
            <a:endParaRPr lang="en-IN" sz="2000" dirty="0" smtClean="0">
              <a:latin typeface="Calisto MT" panose="02040603050505030304" pitchFamily="18" charset="0"/>
            </a:endParaRPr>
          </a:p>
          <a:p>
            <a:r>
              <a:rPr lang="en-IN" sz="2000" dirty="0" smtClean="0">
                <a:latin typeface="Calisto MT" panose="02040603050505030304" pitchFamily="18" charset="0"/>
              </a:rPr>
              <a:t>Achieved </a:t>
            </a:r>
            <a:r>
              <a:rPr lang="en-IN" sz="2000" dirty="0">
                <a:latin typeface="Calisto MT" panose="02040603050505030304" pitchFamily="18" charset="0"/>
              </a:rPr>
              <a:t>a faster, flexible, and visually improved UI system.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latin typeface="Calisto MT" panose="0204060305050503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xmlns="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5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10737"/>
            <a:ext cx="11487912" cy="1097915"/>
          </a:xfrm>
        </p:spPr>
        <p:txBody>
          <a:bodyPr>
            <a:normAutofit/>
          </a:bodyPr>
          <a:lstStyle/>
          <a:p>
            <a:r>
              <a:rPr lang="en-IN" sz="3600" b="1" dirty="0" smtClean="0"/>
              <a:t>3.1. </a:t>
            </a:r>
            <a:r>
              <a:rPr lang="en-IN" sz="3600" b="1" dirty="0"/>
              <a:t>Terrain &amp; Environment </a:t>
            </a:r>
            <a:r>
              <a:rPr lang="en-IN" sz="3600" b="1" dirty="0" smtClean="0"/>
              <a:t>Integration For Chapter-2</a:t>
            </a:r>
            <a:endParaRPr lang="en-IN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xmlns="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  <p:sp>
        <p:nvSpPr>
          <p:cNvPr id="9" name="Rectangle 4"/>
          <p:cNvSpPr>
            <a:spLocks noGrp="1" noChangeArrowheads="1"/>
          </p:cNvSpPr>
          <p:nvPr>
            <p:ph idx="1"/>
          </p:nvPr>
        </p:nvSpPr>
        <p:spPr bwMode="auto">
          <a:xfrm flipH="1">
            <a:off x="1408112" y="2507068"/>
            <a:ext cx="947041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terrain environment and improve rendering performance.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and rendered the Russian Army base terrain model and configured it within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smtClean="0">
                <a:latin typeface="Arial" panose="020B0604020202020204" pitchFamily="34" charset="0"/>
              </a:rPr>
              <a:t>   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Chapter 2 environment.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memory and GPU usage by reusing resources, clearing cache memory, using suitable data types, and converting textures to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.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dds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format.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memory usage to ~10GB and achieved smoother rendering in Chapter 2.</a:t>
            </a:r>
          </a:p>
        </p:txBody>
      </p:sp>
    </p:spTree>
    <p:extLst>
      <p:ext uri="{BB962C8B-B14F-4D97-AF65-F5344CB8AC3E}">
        <p14:creationId xmlns:p14="http://schemas.microsoft.com/office/powerpoint/2010/main" val="2922187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69254"/>
            <a:ext cx="11487912" cy="1097915"/>
          </a:xfrm>
        </p:spPr>
        <p:txBody>
          <a:bodyPr>
            <a:normAutofit/>
          </a:bodyPr>
          <a:lstStyle/>
          <a:p>
            <a:r>
              <a:rPr lang="en-IN" sz="3600" b="1" dirty="0" smtClean="0"/>
              <a:t>4.1</a:t>
            </a:r>
            <a:r>
              <a:rPr lang="en-IN" sz="3600" b="1" dirty="0" smtClean="0"/>
              <a:t>. </a:t>
            </a:r>
            <a:r>
              <a:rPr lang="en-IN" sz="3600" b="1" dirty="0"/>
              <a:t>Score Panel Modernization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3000" y="1760590"/>
            <a:ext cx="9605727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/>
              <a:t>Goal</a:t>
            </a:r>
            <a:r>
              <a:rPr lang="en-US" sz="2000" b="1" dirty="0" smtClean="0"/>
              <a:t>:</a:t>
            </a:r>
          </a:p>
          <a:p>
            <a:r>
              <a:rPr lang="en-US" sz="2000" dirty="0" smtClean="0"/>
              <a:t>Improve </a:t>
            </a:r>
            <a:r>
              <a:rPr lang="en-US" sz="2000" dirty="0"/>
              <a:t>score panel performance and flexibility.</a:t>
            </a:r>
          </a:p>
          <a:p>
            <a:pPr marL="0" indent="0">
              <a:buNone/>
            </a:pPr>
            <a:r>
              <a:rPr lang="en-US" sz="2000" b="1" dirty="0"/>
              <a:t>Process</a:t>
            </a:r>
            <a:r>
              <a:rPr lang="en-US" sz="2000" b="1" dirty="0" smtClean="0"/>
              <a:t>:</a:t>
            </a:r>
          </a:p>
          <a:p>
            <a:r>
              <a:rPr lang="en-US" sz="2000" dirty="0" smtClean="0"/>
              <a:t>Replaced </a:t>
            </a:r>
            <a:r>
              <a:rPr lang="en-US" sz="2000" dirty="0"/>
              <a:t>existing </a:t>
            </a:r>
            <a:r>
              <a:rPr lang="en-US" sz="2000" dirty="0" err="1"/>
              <a:t>JFrame</a:t>
            </a:r>
            <a:r>
              <a:rPr lang="en-US" sz="2000" dirty="0"/>
              <a:t> score panel with an </a:t>
            </a:r>
            <a:r>
              <a:rPr lang="en-US" sz="2000" dirty="0" err="1"/>
              <a:t>ImGui</a:t>
            </a:r>
            <a:r>
              <a:rPr lang="en-US" sz="2000" dirty="0"/>
              <a:t>-based panel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Added </a:t>
            </a:r>
            <a:r>
              <a:rPr lang="en-US" sz="2000" dirty="0"/>
              <a:t>retry mechanism and displayed all relevant parameters.</a:t>
            </a:r>
          </a:p>
          <a:p>
            <a:pPr marL="0" indent="0">
              <a:buNone/>
            </a:pPr>
            <a:r>
              <a:rPr lang="en-US" sz="2000" b="1" dirty="0"/>
              <a:t>Result</a:t>
            </a:r>
            <a:r>
              <a:rPr lang="en-US" sz="2000" b="1" dirty="0" smtClean="0"/>
              <a:t>:</a:t>
            </a:r>
          </a:p>
          <a:p>
            <a:r>
              <a:rPr lang="en-US" sz="2000" dirty="0" smtClean="0"/>
              <a:t>Achieved </a:t>
            </a:r>
            <a:r>
              <a:rPr lang="en-US" sz="2000" dirty="0"/>
              <a:t>a responsive and feature-rich score panel.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xmlns="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6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48" y="552529"/>
            <a:ext cx="11487912" cy="1097915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5.1.Gameplay </a:t>
            </a:r>
            <a:r>
              <a:rPr lang="en-US" sz="3600" b="1" dirty="0"/>
              <a:t>Bug Fixes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08603" y="2249501"/>
            <a:ext cx="996560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/>
              <a:t>Goal</a:t>
            </a:r>
            <a:r>
              <a:rPr lang="en-IN" sz="2000" b="1" dirty="0" smtClean="0"/>
              <a:t>:</a:t>
            </a:r>
          </a:p>
          <a:p>
            <a:r>
              <a:rPr lang="en-IN" sz="2000" dirty="0" smtClean="0"/>
              <a:t>Improve </a:t>
            </a:r>
            <a:r>
              <a:rPr lang="en-IN" sz="2000" dirty="0"/>
              <a:t>gameplay accuracy and rendering performance.</a:t>
            </a:r>
          </a:p>
          <a:p>
            <a:pPr marL="0" indent="0">
              <a:buNone/>
            </a:pPr>
            <a:r>
              <a:rPr lang="en-IN" sz="2000" b="1" dirty="0"/>
              <a:t>Process</a:t>
            </a:r>
            <a:r>
              <a:rPr lang="en-IN" sz="2000" b="1" dirty="0" smtClean="0"/>
              <a:t>:</a:t>
            </a:r>
          </a:p>
          <a:p>
            <a:r>
              <a:rPr lang="en-IN" sz="2000" dirty="0" smtClean="0"/>
              <a:t>Fixed </a:t>
            </a:r>
            <a:r>
              <a:rPr lang="en-IN" sz="2000" dirty="0"/>
              <a:t>ring box position issues after implementation in LWJGL3</a:t>
            </a:r>
            <a:r>
              <a:rPr lang="en-IN" sz="2000" dirty="0" smtClean="0"/>
              <a:t>.</a:t>
            </a:r>
          </a:p>
          <a:p>
            <a:r>
              <a:rPr lang="en-IN" sz="2000" dirty="0" smtClean="0"/>
              <a:t>Corrected </a:t>
            </a:r>
            <a:r>
              <a:rPr lang="en-IN" sz="2000" dirty="0"/>
              <a:t>drone pass detection logic and optimized memory/GPU usage for smoother rendering.</a:t>
            </a:r>
          </a:p>
          <a:p>
            <a:pPr marL="0" indent="0">
              <a:buNone/>
            </a:pPr>
            <a:r>
              <a:rPr lang="en-IN" sz="2000" b="1" dirty="0"/>
              <a:t>Result</a:t>
            </a:r>
            <a:r>
              <a:rPr lang="en-IN" sz="2000" b="1" dirty="0" smtClean="0"/>
              <a:t>:</a:t>
            </a:r>
          </a:p>
          <a:p>
            <a:r>
              <a:rPr lang="en-IN" sz="2000" dirty="0" smtClean="0"/>
              <a:t>Achieved </a:t>
            </a:r>
            <a:r>
              <a:rPr lang="en-IN" sz="2000" dirty="0"/>
              <a:t>accurate gameplay mechanics with improved visual performance.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07F5A8B-C057-3AD8-8CAD-94F943E32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8" name="Graphic 2">
            <a:extLst>
              <a:ext uri="{FF2B5EF4-FFF2-40B4-BE49-F238E27FC236}">
                <a16:creationId xmlns:a16="http://schemas.microsoft.com/office/drawing/2014/main" xmlns="" id="{D16C23D7-7FC3-6E62-5010-1F71DFF24C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4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EF887E-0FA4-A462-2694-DF06D9F7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1774" y="4336610"/>
            <a:ext cx="7086600" cy="838200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9C1C49"/>
                </a:solidFill>
                <a:latin typeface="Georgia" panose="02040502050405020303" pitchFamily="18" charset="0"/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5159501-AE5A-1B96-80E6-F531432167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90600" cy="45833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xmlns="" id="{423BE4A1-AB5B-BE1D-CAFB-A6A24CC25D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60373" y="119280"/>
            <a:ext cx="549974" cy="5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98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334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 Unicode MS</vt:lpstr>
      <vt:lpstr>Arial</vt:lpstr>
      <vt:lpstr>Calibri</vt:lpstr>
      <vt:lpstr>Calibri Light</vt:lpstr>
      <vt:lpstr>Calisto MT</vt:lpstr>
      <vt:lpstr>Cambria</vt:lpstr>
      <vt:lpstr>Georgia</vt:lpstr>
      <vt:lpstr>Sylfaen</vt:lpstr>
      <vt:lpstr>Times New Roman</vt:lpstr>
      <vt:lpstr>Office Theme</vt:lpstr>
      <vt:lpstr>PowerPoint Presentation</vt:lpstr>
      <vt:lpstr>1.1. Weather System Enhancements</vt:lpstr>
      <vt:lpstr>2.1. Window &amp; GUI Architecture Created</vt:lpstr>
      <vt:lpstr>3.1. Terrain &amp; Environment Integration For Chapter-2</vt:lpstr>
      <vt:lpstr>4.1. Score Panel Modernization</vt:lpstr>
      <vt:lpstr>5.1.Gameplay Bug Fixes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Microsoft account</cp:lastModifiedBy>
  <cp:revision>29</cp:revision>
  <dcterms:created xsi:type="dcterms:W3CDTF">2025-12-31T12:19:12Z</dcterms:created>
  <dcterms:modified xsi:type="dcterms:W3CDTF">2026-02-17T02:17:02Z</dcterms:modified>
</cp:coreProperties>
</file>